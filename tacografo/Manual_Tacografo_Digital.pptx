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ção" id="{aa02f55a-a583-8daf-c2f9-46333bc2c696}">
          <p14:sldIdLst>
            <p14:sldId id="256"/>
            <p14:sldId id="257"/>
            <p14:sldId id="258"/>
          </p14:sldIdLst>
        </p14:section>
        <p14:section name="Parte 1 · Cadastrar" id="{aab8aebb-0016-6691-d7b2-4b51ccdafec0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Parte 2 · Conectar" id="{640ef9d8-5a52-d152-8e63-11349bbe5929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Parte 3 · Desconectar" id="{d2e103b1-9cb8-9605-5a39-155880508fc0}">
          <p14:sldIdLst>
            <p14:sldId id="273"/>
            <p14:sldId id="274"/>
          </p14:sldIdLst>
        </p14:section>
        <p14:section name="Encerramento" id="{21368106-6f7c-faa4-524c-68d2f3eb1aea}">
          <p14:sldIdLst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Olá! Neste manual, você vai aprender, passo a passo, a usar o tacógrafo digital do veículo para cadastrar um novo motorista, conectar o motorista antes de iniciar a viagem e desconectar ao final da jornada. É rápido e simples. Vamos lá?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começar, conheça o painel. Na tela inicial aparecem a velocidade do veículo, a data e a hora, o odômetro e, no canto direito, o código do motorista conectado. Abaixo da tela ficam quatro botões. O botão Voltar retorna à tela anterior. As setas para cima e para baixo navegam pelos menus e alteram os números. E o botão OK confirma a opção escolhida.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manual está dividido em três partes. Primeiro, como cadastrar um novo motorista na lista do tacógrafo, informando o código e a habilitação. Depois, como conectar o motorista antes de iniciar a viagem. E, por fim, como desconectar o motorista ao final da jornada.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um: cadastrar um novo motorista. Esse procedimento é feito apenas uma vez para cada motorista que vai utilizar o veículo.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 veículo parado, a partir da tela inicial, use as setas até aparecer a opção Gerenciamento da lista de motorista. Em seguida, pressione OK para entrar.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Dentro desse menu existem duas opções: Remover código do motorista, que exclui alguém da lista, e Cadastrar código do motorista, que inclui um novo motorista. Use as setas até a opção Cadastrar e pressione 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tacógrafo vai perguntar se deseja gravar a informação do motorista no B V D R. Selecione a opção Sim, usando a seta para baixo, e confirme com 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Agora, digite o código do motorista. Ele é formado pelos cinco primeiros dígitos do C P F do motorista. Use as setas para escolher o número de cada dígito e pressione OK para passar para o próximo, até completar os cinco dígitos. No exemplo, o C P F começa com nove nove nove nove nove, então o código é nove nove nove nove nove.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sequência, aparece a tela Digite a habilitação do motorista. Informe o número da C N H usando o mesmo método: as setas escolhem o número e o OK avança para o próximo dígito, até preencher o campo inteiro.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tacógrafo mostra o código e o número da C N H digitados. Confira com atenção. Se estiver tudo certo, selecione Sim e pressione OK. Se houver algum erro, escolha Não e digite novamente.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Pronto! A mensagem Motorista cadastrado confirma que o novo motorista já faz parte da lista do tacógrafo. Pressione Voltar até retornar à tela inicial.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dois: conectar o motorista. Faça isso sempre antes de iniciar a viagem, para que o tacógrafo registre a jornada no nome correto.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tela inicial, use as setas até encontrar a opção Menu do motorista e pressione 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Dentro do Menu do motorista, navegue até a opção Conecte-se e pressione OK. Atenção para não confundir com a opção Viagem finalizada, que aparece logo ao 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tacógrafo oferece duas formas de identificação: Manual ou Lista de motoristas. Selecione a opção dois, Lista de motoristas, e pressione 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Aparece a lista com todos os motoristas cadastrados no veículo. Use as setas até destacar o seu código e pressione 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Confira o código e a C N H, selecione Sim e pressione OK. De volta à tela inicial, observe que o seu código agora aparece no canto direito. Isso indica que você está conectado e pronto para iniciar a viagem.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três: desconectar o motorista, ao final da jornada de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tela inicial, use as setas até o Menu do motorista e pressione OK. O tacógrafo pergunta: Desconectar motorista? Selecione Sim e pressione OK. A mensagem Motorista desconectado confirma que a sua jornada foi encerrada.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Recapitulando: para cadastrar, acesse Gerenciamento da lista, escolha Cadastrar, informe o código e a C N H e confirme. Para conectar, vá ao Menu do motorista, escolha Conecte-se, depois Lista de motoristas, selecione o seu código e confirme. Para desconectar, vá ao Menu do motorista e confirme a desconexão. Lembre-se: faça tudo com o veículo parado e sempre confira o seu código na tela inicial antes de sair. Boa viagem!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1.png"/><Relationship Id="rId3" Type="http://schemas.openxmlformats.org/officeDocument/2006/relationships/image" Target="../media/image-1003-3.png"/><Relationship Id="rId4" Type="http://schemas.openxmlformats.org/officeDocument/2006/relationships/image" Target="../media/CONTEUDO-image-4.jpeg"/><Relationship Id="rId5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004-1.png"/><Relationship Id="rId3" Type="http://schemas.openxmlformats.org/officeDocument/2006/relationships/image" Target="../media/image-1004-3.png"/><Relationship Id="rId4" Type="http://schemas.openxmlformats.org/officeDocument/2006/relationships/image" Target="../media/image-1004-4.png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nuais-de-uso/tacografo/modelo/faix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9318" y="989381"/>
            <a:ext cx="4812487" cy="5584241"/>
          </a:xfrm>
          <a:prstGeom prst="rect">
            <a:avLst/>
          </a:prstGeom>
        </p:spPr>
      </p:pic>
      <p:pic>
        <p:nvPicPr>
          <p:cNvPr id="3" name="Image 1" descr="/home/user/Manuais-de-uso/tacografo/modelo/logos_toliman_dinamo_br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706" y="354787"/>
            <a:ext cx="2403958" cy="498348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73913" y="1691640"/>
            <a:ext cx="51206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bg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73913" y="2834640"/>
            <a:ext cx="48463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nuais-de-uso/tacografo/modelo/decor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71800" y="-1371600"/>
            <a:ext cx="4184294" cy="2836469"/>
          </a:xfrm>
          <a:prstGeom prst="rect">
            <a:avLst/>
          </a:prstGeom>
        </p:spPr>
      </p:pic>
      <p:pic>
        <p:nvPicPr>
          <p:cNvPr id="3" name="Image 1" descr="/home/user/Manuais-de-uso/tacografo/modelo/decoraca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9989" y="4240073"/>
            <a:ext cx="3486607" cy="2363724"/>
          </a:xfrm>
          <a:prstGeom prst="rect">
            <a:avLst/>
          </a:prstGeom>
        </p:spPr>
      </p:pic>
      <p:pic>
        <p:nvPicPr>
          <p:cNvPr id="4" name="Image 2" descr="/home/user/Manuais-de-uso/tacografo/modelo/logos_toliman_dinamo_azu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706" y="354787"/>
            <a:ext cx="2403958" cy="498348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3" type="title" hasCustomPrompt="1"/>
          </p:nvPr>
        </p:nvSpPr>
        <p:spPr>
          <a:xfrm>
            <a:off x="548640" y="1097280"/>
            <a:ext cx="75895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tx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390"/>
                </a:solidFill>
                <a:latin typeface="Montserrat Medium"/>
                <a:ea typeface="Montserrat Medium"/>
                <a:cs typeface="Montserrat Medium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ERRAMENT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nuais-de-uso/tacografo/modelo/decor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473098" y="3193085"/>
            <a:ext cx="4184294" cy="2836469"/>
          </a:xfrm>
          <a:prstGeom prst="rect">
            <a:avLst/>
          </a:prstGeom>
        </p:spPr>
      </p:pic>
      <p:pic>
        <p:nvPicPr>
          <p:cNvPr id="3" name="Image 1" descr="/home/user/Manuais-de-uso/tacografo/modelo/decoraca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0491" y="-306324"/>
            <a:ext cx="3486607" cy="2363724"/>
          </a:xfrm>
          <a:prstGeom prst="rect">
            <a:avLst/>
          </a:prstGeom>
        </p:spPr>
      </p:pic>
      <p:pic>
        <p:nvPicPr>
          <p:cNvPr id="4" name="Image 2" descr="/home/user/Manuais-de-uso/tacografo/modelo/encerramento_dinamo_branc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270" y="1929384"/>
            <a:ext cx="6200546" cy="1285646"/>
          </a:xfrm>
          <a:prstGeom prst="rect">
            <a:avLst/>
          </a:prstGeom>
        </p:spPr>
      </p:pic>
      <p:pic>
        <p:nvPicPr>
          <p:cNvPr id="5" name="Image 3" descr="/home/user/Manuais-de-uso/tacografo/modelo/logos_toliman_dinamo_branc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3981" y="4390034"/>
            <a:ext cx="2136038" cy="44257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390"/>
                </a:solidFill>
                <a:latin typeface="Montserrat Medium"/>
                <a:ea typeface="Montserrat Medium"/>
                <a:cs typeface="Montserrat Medium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image" Target="../media/image-19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73913" y="1325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chemeClr val="accent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MANUAL DE USO</a:t>
            </a:r>
            <a:endParaRPr lang="en-US" sz="13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73913" y="169164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Tacógrafo Digital</a:t>
            </a:r>
            <a:endParaRPr lang="en-US" sz="3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73913" y="28346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Como cadastrar, conectar e desconectar o motorista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1097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Conheça o painel</a:t>
            </a:r>
            <a:endParaRPr lang="en-US" sz="24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850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5" name="tela-inicial-moldura"/>
          <p:cNvSpPr/>
          <p:nvPr/>
        </p:nvSpPr>
        <p:spPr>
          <a:xfrm>
            <a:off x="502920" y="1673352"/>
            <a:ext cx="4297680" cy="2459736"/>
          </a:xfrm>
          <a:prstGeom prst="roundRect">
            <a:avLst>
              <a:gd name="adj" fmla="val 2974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1A2643">
                <a:alpha val="25000"/>
              </a:srgbClr>
            </a:outerShdw>
          </a:effectLst>
        </p:spPr>
      </p:sp>
      <p:pic>
        <p:nvPicPr>
          <p:cNvPr id="6" name="tela-inicial" descr="/home/user/Manuais-de-uso/tacografo/telas/01_inici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9072"/>
            <a:ext cx="4206240" cy="236829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120640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TELA INICIAL</a:t>
            </a:r>
            <a:endParaRPr lang="en-US" sz="1100" dirty="0"/>
          </a:p>
        </p:txBody>
      </p:sp>
      <p:sp>
        <p:nvSpPr>
          <p:cNvPr id="8" name="campos"/>
          <p:cNvSpPr txBox="1"/>
          <p:nvPr/>
        </p:nvSpPr>
        <p:spPr>
          <a:xfrm>
            <a:off x="5120640" y="1993392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9486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000 km/h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643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Velocidade atual do veículo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486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Data e hora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643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Relógio do equipamento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486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Odômetro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643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Quilometragem total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486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Código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643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Motorista conectado no momento</a:t>
            </a:r>
            <a:endParaRPr lang="en-US" sz="1200" dirty="0"/>
          </a:p>
        </p:txBody>
      </p:sp>
      <p:sp>
        <p:nvSpPr>
          <p:cNvPr id="9" name="botao-0"/>
          <p:cNvSpPr/>
          <p:nvPr/>
        </p:nvSpPr>
        <p:spPr>
          <a:xfrm>
            <a:off x="548640" y="4279392"/>
            <a:ext cx="86868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548640" y="427939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VOLTAR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508760" y="420624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Volta à tela anterior</a:t>
            </a:r>
            <a:endParaRPr lang="en-US" sz="1000" dirty="0"/>
          </a:p>
        </p:txBody>
      </p:sp>
      <p:sp>
        <p:nvSpPr>
          <p:cNvPr id="12" name="botao-1"/>
          <p:cNvSpPr/>
          <p:nvPr/>
        </p:nvSpPr>
        <p:spPr>
          <a:xfrm>
            <a:off x="3063240" y="4279392"/>
            <a:ext cx="86868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3063240" y="427939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 ▼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023360" y="420624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Navegam pelos menus e alteram dígitos</a:t>
            </a:r>
            <a:endParaRPr lang="en-US" sz="1000" dirty="0"/>
          </a:p>
        </p:txBody>
      </p:sp>
      <p:sp>
        <p:nvSpPr>
          <p:cNvPr id="15" name="botao-2"/>
          <p:cNvSpPr/>
          <p:nvPr/>
        </p:nvSpPr>
        <p:spPr>
          <a:xfrm>
            <a:off x="5577840" y="4279392"/>
            <a:ext cx="86868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577840" y="427939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6537960" y="420624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Confirma a opção ou avança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390"/>
                </a:solidFill>
                <a:latin typeface="Montserrat Medium"/>
                <a:ea typeface="Montserrat Medium"/>
                <a:cs typeface="Montserrat Medium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1097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 que você vai aprender</a:t>
            </a:r>
            <a:endParaRPr lang="en-US" sz="24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850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VISÃO GERAL</a:t>
            </a:r>
            <a:endParaRPr lang="en-US" sz="1100" dirty="0"/>
          </a:p>
        </p:txBody>
      </p:sp>
      <p:sp>
        <p:nvSpPr>
          <p:cNvPr id="5" name="cartao-1"/>
          <p:cNvSpPr/>
          <p:nvPr/>
        </p:nvSpPr>
        <p:spPr>
          <a:xfrm>
            <a:off x="548640" y="1737360"/>
            <a:ext cx="2377440" cy="269748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rgbClr val="F4F1F6"/>
            </a:solidFill>
            <a:prstDash val="solid"/>
          </a:ln>
          <a:effectLst>
            <a:outerShdw sx="100000" sy="100000" kx="0" ky="0" algn="bl" rotWithShape="0" blurRad="101600" dist="25400" dir="5400000">
              <a:srgbClr val="1A2643">
                <a:alpha val="12000"/>
              </a:srgbClr>
            </a:outerShdw>
          </a:effectLst>
        </p:spPr>
      </p:sp>
      <p:sp>
        <p:nvSpPr>
          <p:cNvPr id="6" name="num-1"/>
          <p:cNvSpPr/>
          <p:nvPr/>
        </p:nvSpPr>
        <p:spPr>
          <a:xfrm>
            <a:off x="777240" y="193852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938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Cadastrar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15468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Incluir um novo motorista na lista do tacógrafo, com código e CNH</a:t>
            </a:r>
            <a:endParaRPr lang="en-US" sz="1200" dirty="0"/>
          </a:p>
        </p:txBody>
      </p:sp>
      <p:sp>
        <p:nvSpPr>
          <p:cNvPr id="10" name="cartao-2"/>
          <p:cNvSpPr/>
          <p:nvPr/>
        </p:nvSpPr>
        <p:spPr>
          <a:xfrm>
            <a:off x="3154680" y="1737360"/>
            <a:ext cx="2377440" cy="269748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rgbClr val="F4F1F6"/>
            </a:solidFill>
            <a:prstDash val="solid"/>
          </a:ln>
          <a:effectLst>
            <a:outerShdw sx="100000" sy="100000" kx="0" ky="0" algn="bl" rotWithShape="0" blurRad="101600" dist="25400" dir="5400000">
              <a:srgbClr val="1A2643">
                <a:alpha val="12000"/>
              </a:srgbClr>
            </a:outerShdw>
          </a:effectLst>
        </p:spPr>
      </p:sp>
      <p:sp>
        <p:nvSpPr>
          <p:cNvPr id="11" name="num-2"/>
          <p:cNvSpPr/>
          <p:nvPr/>
        </p:nvSpPr>
        <p:spPr>
          <a:xfrm>
            <a:off x="3383280" y="1938528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383280" y="1938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Conectar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383280" y="315468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Identificar o motorista antes de iniciar a viagem</a:t>
            </a:r>
            <a:endParaRPr lang="en-US" sz="1200" dirty="0"/>
          </a:p>
        </p:txBody>
      </p:sp>
      <p:sp>
        <p:nvSpPr>
          <p:cNvPr id="15" name="cartao-3"/>
          <p:cNvSpPr/>
          <p:nvPr/>
        </p:nvSpPr>
        <p:spPr>
          <a:xfrm>
            <a:off x="5760720" y="1737360"/>
            <a:ext cx="2377440" cy="269748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rgbClr val="F4F1F6"/>
            </a:solidFill>
            <a:prstDash val="solid"/>
          </a:ln>
          <a:effectLst>
            <a:outerShdw sx="100000" sy="100000" kx="0" ky="0" algn="bl" rotWithShape="0" blurRad="101600" dist="25400" dir="5400000">
              <a:srgbClr val="1A2643">
                <a:alpha val="12000"/>
              </a:srgbClr>
            </a:outerShdw>
          </a:effectLst>
        </p:spPr>
      </p:sp>
      <p:sp>
        <p:nvSpPr>
          <p:cNvPr id="16" name="num-3"/>
          <p:cNvSpPr/>
          <p:nvPr/>
        </p:nvSpPr>
        <p:spPr>
          <a:xfrm>
            <a:off x="5989320" y="1938528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89320" y="1938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598932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Desconectar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989320" y="315468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Encerrar a identificação ao final da jornada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390"/>
                </a:solidFill>
                <a:latin typeface="Montserrat Medium"/>
                <a:ea typeface="Montserrat Medium"/>
                <a:cs typeface="Montserrat Medium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73913" y="1325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chemeClr val="accent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PARTE 1</a:t>
            </a:r>
            <a:endParaRPr lang="en-US" sz="13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73913" y="169164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Cadastrar um novo motorista</a:t>
            </a:r>
            <a:endParaRPr lang="en-US" sz="3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73913" y="28346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Feito uma única vez para cada motorista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1097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Acesse o gerenciamento da lista</a:t>
            </a:r>
            <a:endParaRPr lang="en-US" sz="24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850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CADASTRAR · PASSO 1</a:t>
            </a:r>
            <a:endParaRPr lang="en-US" sz="1100" dirty="0"/>
          </a:p>
        </p:txBody>
      </p:sp>
      <p:sp>
        <p:nvSpPr>
          <p:cNvPr id="5" name="print-moldura"/>
          <p:cNvSpPr/>
          <p:nvPr/>
        </p:nvSpPr>
        <p:spPr>
          <a:xfrm>
            <a:off x="502920" y="1673352"/>
            <a:ext cx="4709160" cy="2688336"/>
          </a:xfrm>
          <a:prstGeom prst="roundRect">
            <a:avLst>
              <a:gd name="adj" fmla="val 2721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1A2643">
                <a:alpha val="25000"/>
              </a:srgbClr>
            </a:outerShdw>
          </a:effectLst>
        </p:spPr>
      </p:sp>
      <p:pic>
        <p:nvPicPr>
          <p:cNvPr id="6" name="print" descr="/home/user/Manuais-de-uso/tacografo/telas/02_gerenciament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9072"/>
            <a:ext cx="4617720" cy="2596896"/>
          </a:xfrm>
          <a:prstGeom prst="rect">
            <a:avLst/>
          </a:prstGeom>
        </p:spPr>
      </p:pic>
      <p:sp>
        <p:nvSpPr>
          <p:cNvPr id="7" name="num-passo"/>
          <p:cNvSpPr/>
          <p:nvPr/>
        </p:nvSpPr>
        <p:spPr>
          <a:xfrm>
            <a:off x="5577840" y="1719072"/>
            <a:ext cx="530352" cy="53035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5577840" y="17190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instrucoes"/>
          <p:cNvSpPr txBox="1"/>
          <p:nvPr/>
        </p:nvSpPr>
        <p:spPr>
          <a:xfrm>
            <a:off x="5577840" y="237744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Com o veículo parado, na tela inicial, use ▲ ou ▼ até aparecer GERENCIAMENTO DA LISTA DE MOTORISTA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Pressione OK para entrar</a:t>
            </a:r>
            <a:endParaRPr lang="en-US" sz="1300" dirty="0"/>
          </a:p>
        </p:txBody>
      </p:sp>
      <p:sp>
        <p:nvSpPr>
          <p:cNvPr id="10" name="botao-0"/>
          <p:cNvSpPr/>
          <p:nvPr/>
        </p:nvSpPr>
        <p:spPr>
          <a:xfrm>
            <a:off x="5577840" y="4087368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5577840" y="40873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300" dirty="0"/>
          </a:p>
        </p:txBody>
      </p:sp>
      <p:sp>
        <p:nvSpPr>
          <p:cNvPr id="12" name="botao-1"/>
          <p:cNvSpPr/>
          <p:nvPr/>
        </p:nvSpPr>
        <p:spPr>
          <a:xfrm>
            <a:off x="6190488" y="4087368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190488" y="40873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300" dirty="0"/>
          </a:p>
        </p:txBody>
      </p:sp>
      <p:sp>
        <p:nvSpPr>
          <p:cNvPr id="14" name="botao-2"/>
          <p:cNvSpPr/>
          <p:nvPr/>
        </p:nvSpPr>
        <p:spPr>
          <a:xfrm>
            <a:off x="6803136" y="4087368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803136" y="40873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390"/>
                </a:solidFill>
                <a:latin typeface="Montserrat Medium"/>
                <a:ea typeface="Montserrat Medium"/>
                <a:cs typeface="Montserrat Medium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1097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Escolha Cadastrar código do motorista</a:t>
            </a:r>
            <a:endParaRPr lang="en-US" sz="24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850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CADASTRAR · PASSO 2</a:t>
            </a:r>
            <a:endParaRPr lang="en-US" sz="1100" dirty="0"/>
          </a:p>
        </p:txBody>
      </p:sp>
      <p:sp>
        <p:nvSpPr>
          <p:cNvPr id="5" name="print-1-moldura"/>
          <p:cNvSpPr/>
          <p:nvPr/>
        </p:nvSpPr>
        <p:spPr>
          <a:xfrm>
            <a:off x="502920" y="1673352"/>
            <a:ext cx="3657600" cy="2093976"/>
          </a:xfrm>
          <a:prstGeom prst="roundRect">
            <a:avLst>
              <a:gd name="adj" fmla="val 3493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1A2643">
                <a:alpha val="25000"/>
              </a:srgbClr>
            </a:outerShdw>
          </a:effectLst>
        </p:spPr>
      </p:sp>
      <p:pic>
        <p:nvPicPr>
          <p:cNvPr id="6" name="print-1" descr="/home/user/Manuais-de-uso/tacografo/telas/03_rem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9072"/>
            <a:ext cx="3566160" cy="20025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7764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Remover: exclui um motorista da lista</a:t>
            </a:r>
            <a:endParaRPr lang="en-US" sz="1000" dirty="0"/>
          </a:p>
        </p:txBody>
      </p:sp>
      <p:sp>
        <p:nvSpPr>
          <p:cNvPr id="8" name="print-2-moldura"/>
          <p:cNvSpPr/>
          <p:nvPr/>
        </p:nvSpPr>
        <p:spPr>
          <a:xfrm>
            <a:off x="4343400" y="1673352"/>
            <a:ext cx="3657600" cy="2093976"/>
          </a:xfrm>
          <a:prstGeom prst="roundRect">
            <a:avLst>
              <a:gd name="adj" fmla="val 3493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1A2643">
                <a:alpha val="25000"/>
              </a:srgbClr>
            </a:outerShdw>
          </a:effectLst>
        </p:spPr>
      </p:sp>
      <p:pic>
        <p:nvPicPr>
          <p:cNvPr id="9" name="print-2" descr="/home/user/Manuais-de-uso/tacografo/telas/04_cadastra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719072"/>
            <a:ext cx="3566160" cy="200253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389120" y="37764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Cadastrar: inclui um novo motorista</a:t>
            </a:r>
            <a:endParaRPr lang="en-US" sz="1000" dirty="0"/>
          </a:p>
        </p:txBody>
      </p:sp>
      <p:sp>
        <p:nvSpPr>
          <p:cNvPr id="11" name="num-passo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instrucoes"/>
          <p:cNvSpPr txBox="1"/>
          <p:nvPr/>
        </p:nvSpPr>
        <p:spPr>
          <a:xfrm>
            <a:off x="1143000" y="4087368"/>
            <a:ext cx="48097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Dentro do menu há duas opções: REMOVER e CADASTRAR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Use ▲ ou ▼ até CADASTRAR CÓDIGO DO MOTORISTA e pressione OK</a:t>
            </a:r>
            <a:endParaRPr lang="en-US" sz="1100" dirty="0"/>
          </a:p>
        </p:txBody>
      </p:sp>
      <p:sp>
        <p:nvSpPr>
          <p:cNvPr id="14" name="botao-0"/>
          <p:cNvSpPr/>
          <p:nvPr/>
        </p:nvSpPr>
        <p:spPr>
          <a:xfrm>
            <a:off x="6227064" y="4206240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6227064" y="4206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300" dirty="0"/>
          </a:p>
        </p:txBody>
      </p:sp>
      <p:sp>
        <p:nvSpPr>
          <p:cNvPr id="16" name="botao-1"/>
          <p:cNvSpPr/>
          <p:nvPr/>
        </p:nvSpPr>
        <p:spPr>
          <a:xfrm>
            <a:off x="6839712" y="4206240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6839712" y="4206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300" dirty="0"/>
          </a:p>
        </p:txBody>
      </p:sp>
      <p:sp>
        <p:nvSpPr>
          <p:cNvPr id="18" name="botao-2"/>
          <p:cNvSpPr/>
          <p:nvPr/>
        </p:nvSpPr>
        <p:spPr>
          <a:xfrm>
            <a:off x="7452360" y="4206240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7452360" y="4206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390"/>
                </a:solidFill>
                <a:latin typeface="Montserrat Medium"/>
                <a:ea typeface="Montserrat Medium"/>
                <a:cs typeface="Montserrat Medium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1097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Grave a informação no BVDR</a:t>
            </a:r>
            <a:endParaRPr lang="en-US" sz="24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850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CADASTRAR · PASSO 3</a:t>
            </a:r>
            <a:endParaRPr lang="en-US" sz="1100" dirty="0"/>
          </a:p>
        </p:txBody>
      </p:sp>
      <p:sp>
        <p:nvSpPr>
          <p:cNvPr id="5" name="print-moldura"/>
          <p:cNvSpPr/>
          <p:nvPr/>
        </p:nvSpPr>
        <p:spPr>
          <a:xfrm>
            <a:off x="502920" y="1673352"/>
            <a:ext cx="4709160" cy="2688336"/>
          </a:xfrm>
          <a:prstGeom prst="roundRect">
            <a:avLst>
              <a:gd name="adj" fmla="val 2721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1A2643">
                <a:alpha val="25000"/>
              </a:srgbClr>
            </a:outerShdw>
          </a:effectLst>
        </p:spPr>
      </p:sp>
      <p:pic>
        <p:nvPicPr>
          <p:cNvPr id="6" name="print" descr="/home/user/Manuais-de-uso/tacografo/telas/05_bvd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9072"/>
            <a:ext cx="4617720" cy="2596896"/>
          </a:xfrm>
          <a:prstGeom prst="rect">
            <a:avLst/>
          </a:prstGeom>
        </p:spPr>
      </p:pic>
      <p:sp>
        <p:nvSpPr>
          <p:cNvPr id="7" name="num-passo"/>
          <p:cNvSpPr/>
          <p:nvPr/>
        </p:nvSpPr>
        <p:spPr>
          <a:xfrm>
            <a:off x="5577840" y="1719072"/>
            <a:ext cx="530352" cy="53035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5577840" y="17190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</a:t>
            </a:r>
            <a:endParaRPr lang="en-US" sz="1700" dirty="0"/>
          </a:p>
        </p:txBody>
      </p:sp>
      <p:sp>
        <p:nvSpPr>
          <p:cNvPr id="9" name="instrucoes"/>
          <p:cNvSpPr txBox="1"/>
          <p:nvPr/>
        </p:nvSpPr>
        <p:spPr>
          <a:xfrm>
            <a:off x="5577840" y="237744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 tacógrafo pergunta: GRAVAR INFORMAÇÃO DO MOTORISTA NO BVDR?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Selecione SIM com ▼ e pressione OK</a:t>
            </a:r>
            <a:endParaRPr lang="en-US" sz="1300" dirty="0"/>
          </a:p>
        </p:txBody>
      </p:sp>
      <p:sp>
        <p:nvSpPr>
          <p:cNvPr id="10" name="botao-0"/>
          <p:cNvSpPr/>
          <p:nvPr/>
        </p:nvSpPr>
        <p:spPr>
          <a:xfrm>
            <a:off x="5577840" y="4087368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5577840" y="40873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300" dirty="0"/>
          </a:p>
        </p:txBody>
      </p:sp>
      <p:sp>
        <p:nvSpPr>
          <p:cNvPr id="12" name="botao-1"/>
          <p:cNvSpPr/>
          <p:nvPr/>
        </p:nvSpPr>
        <p:spPr>
          <a:xfrm>
            <a:off x="6190488" y="4087368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190488" y="40873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390"/>
                </a:solidFill>
                <a:latin typeface="Montserrat Medium"/>
                <a:ea typeface="Montserrat Medium"/>
                <a:cs typeface="Montserrat Medium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1097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Digite o código do motorista</a:t>
            </a:r>
            <a:endParaRPr lang="en-US" sz="24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850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CADASTRAR · PASSO 4</a:t>
            </a:r>
            <a:endParaRPr lang="en-US" sz="1100" dirty="0"/>
          </a:p>
        </p:txBody>
      </p:sp>
      <p:sp>
        <p:nvSpPr>
          <p:cNvPr id="5" name="print-moldura"/>
          <p:cNvSpPr/>
          <p:nvPr/>
        </p:nvSpPr>
        <p:spPr>
          <a:xfrm>
            <a:off x="502920" y="1673352"/>
            <a:ext cx="4709160" cy="2688336"/>
          </a:xfrm>
          <a:prstGeom prst="roundRect">
            <a:avLst>
              <a:gd name="adj" fmla="val 2721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1A2643">
                <a:alpha val="25000"/>
              </a:srgbClr>
            </a:outerShdw>
          </a:effectLst>
        </p:spPr>
      </p:sp>
      <p:pic>
        <p:nvPicPr>
          <p:cNvPr id="6" name="print" descr="/home/user/Manuais-de-uso/tacografo/telas/06_codi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9072"/>
            <a:ext cx="4617720" cy="2596896"/>
          </a:xfrm>
          <a:prstGeom prst="rect">
            <a:avLst/>
          </a:prstGeom>
        </p:spPr>
      </p:pic>
      <p:sp>
        <p:nvSpPr>
          <p:cNvPr id="7" name="num-passo"/>
          <p:cNvSpPr/>
          <p:nvPr/>
        </p:nvSpPr>
        <p:spPr>
          <a:xfrm>
            <a:off x="5577840" y="1719072"/>
            <a:ext cx="530352" cy="53035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5577840" y="17190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4</a:t>
            </a:r>
            <a:endParaRPr lang="en-US" sz="1700" dirty="0"/>
          </a:p>
        </p:txBody>
      </p:sp>
      <p:sp>
        <p:nvSpPr>
          <p:cNvPr id="9" name="instrucoes"/>
          <p:cNvSpPr txBox="1"/>
          <p:nvPr/>
        </p:nvSpPr>
        <p:spPr>
          <a:xfrm>
            <a:off x="5577840" y="237744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 código são os 5 primeiros dígitos do CPF do motorista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Use ▲ ou ▼ para escolher cada número e OK para avançar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Exemplo: CPF que começa com 999.99 → código 99999</a:t>
            </a:r>
            <a:endParaRPr lang="en-US" sz="1300" dirty="0"/>
          </a:p>
        </p:txBody>
      </p:sp>
      <p:sp>
        <p:nvSpPr>
          <p:cNvPr id="10" name="botao-0"/>
          <p:cNvSpPr/>
          <p:nvPr/>
        </p:nvSpPr>
        <p:spPr>
          <a:xfrm>
            <a:off x="5577840" y="4087368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5577840" y="40873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300" dirty="0"/>
          </a:p>
        </p:txBody>
      </p:sp>
      <p:sp>
        <p:nvSpPr>
          <p:cNvPr id="12" name="botao-1"/>
          <p:cNvSpPr/>
          <p:nvPr/>
        </p:nvSpPr>
        <p:spPr>
          <a:xfrm>
            <a:off x="6190488" y="4087368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190488" y="40873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300" dirty="0"/>
          </a:p>
        </p:txBody>
      </p:sp>
      <p:sp>
        <p:nvSpPr>
          <p:cNvPr id="14" name="botao-2"/>
          <p:cNvSpPr/>
          <p:nvPr/>
        </p:nvSpPr>
        <p:spPr>
          <a:xfrm>
            <a:off x="6803136" y="4087368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803136" y="40873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390"/>
                </a:solidFill>
                <a:latin typeface="Montserrat Medium"/>
                <a:ea typeface="Montserrat Medium"/>
                <a:cs typeface="Montserrat Medium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1097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Digite o número da CNH</a:t>
            </a:r>
            <a:endParaRPr lang="en-US" sz="24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850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CADASTRAR · PASSO 5</a:t>
            </a:r>
            <a:endParaRPr lang="en-US" sz="1100" dirty="0"/>
          </a:p>
        </p:txBody>
      </p:sp>
      <p:sp>
        <p:nvSpPr>
          <p:cNvPr id="5" name="print-1-moldura"/>
          <p:cNvSpPr/>
          <p:nvPr/>
        </p:nvSpPr>
        <p:spPr>
          <a:xfrm>
            <a:off x="502920" y="1673352"/>
            <a:ext cx="3657600" cy="2093976"/>
          </a:xfrm>
          <a:prstGeom prst="roundRect">
            <a:avLst>
              <a:gd name="adj" fmla="val 3493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1A2643">
                <a:alpha val="25000"/>
              </a:srgbClr>
            </a:outerShdw>
          </a:effectLst>
        </p:spPr>
      </p:sp>
      <p:pic>
        <p:nvPicPr>
          <p:cNvPr id="6" name="print-1" descr="/home/user/Manuais-de-uso/tacografo/telas/07_cnh_vazi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9072"/>
            <a:ext cx="3566160" cy="20025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7764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Campo da CNH vazio</a:t>
            </a:r>
            <a:endParaRPr lang="en-US" sz="1000" dirty="0"/>
          </a:p>
        </p:txBody>
      </p:sp>
      <p:sp>
        <p:nvSpPr>
          <p:cNvPr id="8" name="print-2-moldura"/>
          <p:cNvSpPr/>
          <p:nvPr/>
        </p:nvSpPr>
        <p:spPr>
          <a:xfrm>
            <a:off x="4343400" y="1673352"/>
            <a:ext cx="3657600" cy="2093976"/>
          </a:xfrm>
          <a:prstGeom prst="roundRect">
            <a:avLst>
              <a:gd name="adj" fmla="val 3493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1A2643">
                <a:alpha val="25000"/>
              </a:srgbClr>
            </a:outerShdw>
          </a:effectLst>
        </p:spPr>
      </p:sp>
      <p:pic>
        <p:nvPicPr>
          <p:cNvPr id="9" name="print-2" descr="/home/user/Manuais-de-uso/tacografo/telas/08_cnh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719072"/>
            <a:ext cx="3566160" cy="200253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389120" y="37764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CNH preenchida</a:t>
            </a:r>
            <a:endParaRPr lang="en-US" sz="1000" dirty="0"/>
          </a:p>
        </p:txBody>
      </p:sp>
      <p:sp>
        <p:nvSpPr>
          <p:cNvPr id="11" name="num-passo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instrucoes"/>
          <p:cNvSpPr txBox="1"/>
          <p:nvPr/>
        </p:nvSpPr>
        <p:spPr>
          <a:xfrm>
            <a:off x="1143000" y="4087368"/>
            <a:ext cx="48097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Na tela DIGITE A HABILITAÇÃO DO MOTORISTA, informe o número da CNH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Mesmo método: ▲ ▼ escolhem o número e OK avança o dígito</a:t>
            </a:r>
            <a:endParaRPr lang="en-US" sz="1100" dirty="0"/>
          </a:p>
        </p:txBody>
      </p:sp>
      <p:sp>
        <p:nvSpPr>
          <p:cNvPr id="14" name="botao-0"/>
          <p:cNvSpPr/>
          <p:nvPr/>
        </p:nvSpPr>
        <p:spPr>
          <a:xfrm>
            <a:off x="6227064" y="4206240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6227064" y="4206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300" dirty="0"/>
          </a:p>
        </p:txBody>
      </p:sp>
      <p:sp>
        <p:nvSpPr>
          <p:cNvPr id="16" name="botao-1"/>
          <p:cNvSpPr/>
          <p:nvPr/>
        </p:nvSpPr>
        <p:spPr>
          <a:xfrm>
            <a:off x="6839712" y="4206240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6839712" y="4206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300" dirty="0"/>
          </a:p>
        </p:txBody>
      </p:sp>
      <p:sp>
        <p:nvSpPr>
          <p:cNvPr id="18" name="botao-2"/>
          <p:cNvSpPr/>
          <p:nvPr/>
        </p:nvSpPr>
        <p:spPr>
          <a:xfrm>
            <a:off x="7452360" y="4206240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7452360" y="4206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390"/>
                </a:solidFill>
                <a:latin typeface="Montserrat Medium"/>
                <a:ea typeface="Montserrat Medium"/>
                <a:cs typeface="Montserrat Medium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1097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Confira e confirme os dados</a:t>
            </a:r>
            <a:endParaRPr lang="en-US" sz="24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850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CADASTRAR · PASSO 6</a:t>
            </a:r>
            <a:endParaRPr lang="en-US" sz="1100" dirty="0"/>
          </a:p>
        </p:txBody>
      </p:sp>
      <p:sp>
        <p:nvSpPr>
          <p:cNvPr id="5" name="print-moldura"/>
          <p:cNvSpPr/>
          <p:nvPr/>
        </p:nvSpPr>
        <p:spPr>
          <a:xfrm>
            <a:off x="502920" y="1673352"/>
            <a:ext cx="4709160" cy="2688336"/>
          </a:xfrm>
          <a:prstGeom prst="roundRect">
            <a:avLst>
              <a:gd name="adj" fmla="val 2721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1A2643">
                <a:alpha val="25000"/>
              </a:srgbClr>
            </a:outerShdw>
          </a:effectLst>
        </p:spPr>
      </p:sp>
      <p:pic>
        <p:nvPicPr>
          <p:cNvPr id="6" name="print" descr="/home/user/Manuais-de-uso/tacografo/telas/09_confirm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9072"/>
            <a:ext cx="4617720" cy="2596896"/>
          </a:xfrm>
          <a:prstGeom prst="rect">
            <a:avLst/>
          </a:prstGeom>
        </p:spPr>
      </p:pic>
      <p:sp>
        <p:nvSpPr>
          <p:cNvPr id="7" name="num-passo"/>
          <p:cNvSpPr/>
          <p:nvPr/>
        </p:nvSpPr>
        <p:spPr>
          <a:xfrm>
            <a:off x="5577840" y="1719072"/>
            <a:ext cx="530352" cy="53035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5577840" y="17190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6</a:t>
            </a:r>
            <a:endParaRPr lang="en-US" sz="1700" dirty="0"/>
          </a:p>
        </p:txBody>
      </p:sp>
      <p:sp>
        <p:nvSpPr>
          <p:cNvPr id="9" name="instrucoes"/>
          <p:cNvSpPr txBox="1"/>
          <p:nvPr/>
        </p:nvSpPr>
        <p:spPr>
          <a:xfrm>
            <a:off x="5577840" y="237744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 tela mostra o código e a CNH digitados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Confira com atenção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Selecione SIM e pressione OK</a:t>
            </a:r>
            <a:endParaRPr lang="en-US" sz="1300" dirty="0"/>
          </a:p>
        </p:txBody>
      </p:sp>
      <p:sp>
        <p:nvSpPr>
          <p:cNvPr id="10" name="botao-0"/>
          <p:cNvSpPr/>
          <p:nvPr/>
        </p:nvSpPr>
        <p:spPr>
          <a:xfrm>
            <a:off x="5577840" y="4087368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5577840" y="40873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300" dirty="0"/>
          </a:p>
        </p:txBody>
      </p:sp>
      <p:sp>
        <p:nvSpPr>
          <p:cNvPr id="12" name="botao-1"/>
          <p:cNvSpPr/>
          <p:nvPr/>
        </p:nvSpPr>
        <p:spPr>
          <a:xfrm>
            <a:off x="6190488" y="4087368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190488" y="40873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390"/>
                </a:solidFill>
                <a:latin typeface="Montserrat Medium"/>
                <a:ea typeface="Montserrat Medium"/>
                <a:cs typeface="Montserrat Medium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1097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Motorista cadastrado</a:t>
            </a:r>
            <a:endParaRPr lang="en-US" sz="24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850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CADASTRAR · PASSO 7</a:t>
            </a:r>
            <a:endParaRPr lang="en-US" sz="1100" dirty="0"/>
          </a:p>
        </p:txBody>
      </p:sp>
      <p:sp>
        <p:nvSpPr>
          <p:cNvPr id="5" name="print-moldura"/>
          <p:cNvSpPr/>
          <p:nvPr/>
        </p:nvSpPr>
        <p:spPr>
          <a:xfrm>
            <a:off x="502920" y="1673352"/>
            <a:ext cx="4709160" cy="2688336"/>
          </a:xfrm>
          <a:prstGeom prst="roundRect">
            <a:avLst>
              <a:gd name="adj" fmla="val 2721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1A2643">
                <a:alpha val="25000"/>
              </a:srgbClr>
            </a:outerShdw>
          </a:effectLst>
        </p:spPr>
      </p:sp>
      <p:pic>
        <p:nvPicPr>
          <p:cNvPr id="6" name="print" descr="/home/user/Manuais-de-uso/tacografo/telas/10_cadastrad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9072"/>
            <a:ext cx="4617720" cy="2596896"/>
          </a:xfrm>
          <a:prstGeom prst="rect">
            <a:avLst/>
          </a:prstGeom>
        </p:spPr>
      </p:pic>
      <p:sp>
        <p:nvSpPr>
          <p:cNvPr id="7" name="ok-icone"/>
          <p:cNvSpPr/>
          <p:nvPr/>
        </p:nvSpPr>
        <p:spPr>
          <a:xfrm>
            <a:off x="5577840" y="1719072"/>
            <a:ext cx="530352" cy="53035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5577840" y="17190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5577840" y="23774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 mensagem MOTORISTA CADASTRADO confirma que o motorista já está na lista</a:t>
            </a:r>
            <a:endParaRPr lang="en-US" sz="1400" dirty="0"/>
          </a:p>
        </p:txBody>
      </p:sp>
      <p:sp>
        <p:nvSpPr>
          <p:cNvPr id="10" name="dica-fundo"/>
          <p:cNvSpPr/>
          <p:nvPr/>
        </p:nvSpPr>
        <p:spPr>
          <a:xfrm>
            <a:off x="5577840" y="3520440"/>
            <a:ext cx="2514600" cy="795528"/>
          </a:xfrm>
          <a:prstGeom prst="roundRect">
            <a:avLst>
              <a:gd name="adj" fmla="val 9195"/>
            </a:avLst>
          </a:prstGeom>
          <a:solidFill>
            <a:schemeClr val="accent6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5715000" y="3520440"/>
            <a:ext cx="22860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Dica: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Pressione VOLTAR até retornar à tela inicial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390"/>
                </a:solidFill>
                <a:latin typeface="Montserrat Medium"/>
                <a:ea typeface="Montserrat Medium"/>
                <a:cs typeface="Montserrat Medium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73913" y="1325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chemeClr val="accent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PARTE 2</a:t>
            </a:r>
            <a:endParaRPr lang="en-US" sz="13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73913" y="169164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Conectar o motorista</a:t>
            </a:r>
            <a:endParaRPr lang="en-US" sz="3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73913" y="28346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Antes de iniciar cada viagem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1097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Abra o Menu do motorista</a:t>
            </a:r>
            <a:endParaRPr lang="en-US" sz="24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850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CONECTAR · PASSO 1</a:t>
            </a:r>
            <a:endParaRPr lang="en-US" sz="1100" dirty="0"/>
          </a:p>
        </p:txBody>
      </p:sp>
      <p:sp>
        <p:nvSpPr>
          <p:cNvPr id="5" name="print-1-moldura"/>
          <p:cNvSpPr/>
          <p:nvPr/>
        </p:nvSpPr>
        <p:spPr>
          <a:xfrm>
            <a:off x="502920" y="1673352"/>
            <a:ext cx="3657600" cy="2093976"/>
          </a:xfrm>
          <a:prstGeom prst="roundRect">
            <a:avLst>
              <a:gd name="adj" fmla="val 3493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1A2643">
                <a:alpha val="25000"/>
              </a:srgbClr>
            </a:outerShdw>
          </a:effectLst>
        </p:spPr>
      </p:sp>
      <p:pic>
        <p:nvPicPr>
          <p:cNvPr id="6" name="print-1" descr="/home/user/Manuais-de-uso/tacografo/telas/11_inici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9072"/>
            <a:ext cx="3566160" cy="20025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7764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Tela inicial</a:t>
            </a:r>
            <a:endParaRPr lang="en-US" sz="1000" dirty="0"/>
          </a:p>
        </p:txBody>
      </p:sp>
      <p:sp>
        <p:nvSpPr>
          <p:cNvPr id="8" name="print-2-moldura"/>
          <p:cNvSpPr/>
          <p:nvPr/>
        </p:nvSpPr>
        <p:spPr>
          <a:xfrm>
            <a:off x="4343400" y="1673352"/>
            <a:ext cx="3657600" cy="2093976"/>
          </a:xfrm>
          <a:prstGeom prst="roundRect">
            <a:avLst>
              <a:gd name="adj" fmla="val 3493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1A2643">
                <a:alpha val="25000"/>
              </a:srgbClr>
            </a:outerShdw>
          </a:effectLst>
        </p:spPr>
      </p:sp>
      <p:pic>
        <p:nvPicPr>
          <p:cNvPr id="9" name="print-2" descr="/home/user/Manuais-de-uso/tacografo/telas/12_menu_mo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719072"/>
            <a:ext cx="3566160" cy="200253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389120" y="37764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MENU DO MOTORISTA</a:t>
            </a:r>
            <a:endParaRPr lang="en-US" sz="1000" dirty="0"/>
          </a:p>
        </p:txBody>
      </p:sp>
      <p:sp>
        <p:nvSpPr>
          <p:cNvPr id="11" name="num-passo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instrucoes"/>
          <p:cNvSpPr txBox="1"/>
          <p:nvPr/>
        </p:nvSpPr>
        <p:spPr>
          <a:xfrm>
            <a:off x="1143000" y="4087368"/>
            <a:ext cx="48097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Na tela inicial, use ▲ ou ▼ até MENU DO MOTORISTA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Pressione OK</a:t>
            </a:r>
            <a:endParaRPr lang="en-US" sz="1100" dirty="0"/>
          </a:p>
        </p:txBody>
      </p:sp>
      <p:sp>
        <p:nvSpPr>
          <p:cNvPr id="14" name="botao-0"/>
          <p:cNvSpPr/>
          <p:nvPr/>
        </p:nvSpPr>
        <p:spPr>
          <a:xfrm>
            <a:off x="6227064" y="4206240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6227064" y="4206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300" dirty="0"/>
          </a:p>
        </p:txBody>
      </p:sp>
      <p:sp>
        <p:nvSpPr>
          <p:cNvPr id="16" name="botao-1"/>
          <p:cNvSpPr/>
          <p:nvPr/>
        </p:nvSpPr>
        <p:spPr>
          <a:xfrm>
            <a:off x="6839712" y="4206240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6839712" y="4206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300" dirty="0"/>
          </a:p>
        </p:txBody>
      </p:sp>
      <p:sp>
        <p:nvSpPr>
          <p:cNvPr id="18" name="botao-2"/>
          <p:cNvSpPr/>
          <p:nvPr/>
        </p:nvSpPr>
        <p:spPr>
          <a:xfrm>
            <a:off x="7452360" y="4206240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7452360" y="4206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390"/>
                </a:solidFill>
                <a:latin typeface="Montserrat Medium"/>
                <a:ea typeface="Montserrat Medium"/>
                <a:cs typeface="Montserrat Medium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1097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Selecione Conecte-se</a:t>
            </a:r>
            <a:endParaRPr lang="en-US" sz="24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850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CONECTAR · PASSO 2</a:t>
            </a:r>
            <a:endParaRPr lang="en-US" sz="1100" dirty="0"/>
          </a:p>
        </p:txBody>
      </p:sp>
      <p:sp>
        <p:nvSpPr>
          <p:cNvPr id="5" name="print-1-moldura"/>
          <p:cNvSpPr/>
          <p:nvPr/>
        </p:nvSpPr>
        <p:spPr>
          <a:xfrm>
            <a:off x="502920" y="1673352"/>
            <a:ext cx="3657600" cy="2093976"/>
          </a:xfrm>
          <a:prstGeom prst="roundRect">
            <a:avLst>
              <a:gd name="adj" fmla="val 3493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1A2643">
                <a:alpha val="25000"/>
              </a:srgbClr>
            </a:outerShdw>
          </a:effectLst>
        </p:spPr>
      </p:sp>
      <p:pic>
        <p:nvPicPr>
          <p:cNvPr id="6" name="print-1" descr="/home/user/Manuais-de-uso/tacografo/telas/13_conec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9072"/>
            <a:ext cx="3566160" cy="20025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7764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CONECTE-SE: use esta opção</a:t>
            </a:r>
            <a:endParaRPr lang="en-US" sz="1000" dirty="0"/>
          </a:p>
        </p:txBody>
      </p:sp>
      <p:sp>
        <p:nvSpPr>
          <p:cNvPr id="8" name="print-2-moldura"/>
          <p:cNvSpPr/>
          <p:nvPr/>
        </p:nvSpPr>
        <p:spPr>
          <a:xfrm>
            <a:off x="4343400" y="1673352"/>
            <a:ext cx="3657600" cy="2093976"/>
          </a:xfrm>
          <a:prstGeom prst="roundRect">
            <a:avLst>
              <a:gd name="adj" fmla="val 3493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1A2643">
                <a:alpha val="25000"/>
              </a:srgbClr>
            </a:outerShdw>
          </a:effectLst>
        </p:spPr>
      </p:sp>
      <p:pic>
        <p:nvPicPr>
          <p:cNvPr id="9" name="print-2" descr="/home/user/Manuais-de-uso/tacografo/telas/14_viagem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719072"/>
            <a:ext cx="3566160" cy="200253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389120" y="37764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VIAGEM FINALIZADA: não é esta</a:t>
            </a:r>
            <a:endParaRPr lang="en-US" sz="1000" dirty="0"/>
          </a:p>
        </p:txBody>
      </p:sp>
      <p:sp>
        <p:nvSpPr>
          <p:cNvPr id="11" name="num-passo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instrucoes"/>
          <p:cNvSpPr txBox="1"/>
          <p:nvPr/>
        </p:nvSpPr>
        <p:spPr>
          <a:xfrm>
            <a:off x="1143000" y="4087368"/>
            <a:ext cx="48097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Use ▲ ou ▼ até CONECTE-SE e pressione 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Atenção: não confunda com VIAGEM FINALIZADA</a:t>
            </a:r>
            <a:endParaRPr lang="en-US" sz="1100" dirty="0"/>
          </a:p>
        </p:txBody>
      </p:sp>
      <p:sp>
        <p:nvSpPr>
          <p:cNvPr id="14" name="botao-0"/>
          <p:cNvSpPr/>
          <p:nvPr/>
        </p:nvSpPr>
        <p:spPr>
          <a:xfrm>
            <a:off x="6227064" y="4206240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6227064" y="4206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300" dirty="0"/>
          </a:p>
        </p:txBody>
      </p:sp>
      <p:sp>
        <p:nvSpPr>
          <p:cNvPr id="16" name="botao-1"/>
          <p:cNvSpPr/>
          <p:nvPr/>
        </p:nvSpPr>
        <p:spPr>
          <a:xfrm>
            <a:off x="6839712" y="4206240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6839712" y="4206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300" dirty="0"/>
          </a:p>
        </p:txBody>
      </p:sp>
      <p:sp>
        <p:nvSpPr>
          <p:cNvPr id="18" name="botao-2"/>
          <p:cNvSpPr/>
          <p:nvPr/>
        </p:nvSpPr>
        <p:spPr>
          <a:xfrm>
            <a:off x="7452360" y="4206240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7452360" y="4206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390"/>
                </a:solidFill>
                <a:latin typeface="Montserrat Medium"/>
                <a:ea typeface="Montserrat Medium"/>
                <a:cs typeface="Montserrat Medium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1097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Escolha Lista de motoristas</a:t>
            </a:r>
            <a:endParaRPr lang="en-US" sz="24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850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CONECTAR · PASSO 3</a:t>
            </a:r>
            <a:endParaRPr lang="en-US" sz="1100" dirty="0"/>
          </a:p>
        </p:txBody>
      </p:sp>
      <p:sp>
        <p:nvSpPr>
          <p:cNvPr id="5" name="print-moldura"/>
          <p:cNvSpPr/>
          <p:nvPr/>
        </p:nvSpPr>
        <p:spPr>
          <a:xfrm>
            <a:off x="502920" y="1673352"/>
            <a:ext cx="4709160" cy="2688336"/>
          </a:xfrm>
          <a:prstGeom prst="roundRect">
            <a:avLst>
              <a:gd name="adj" fmla="val 2721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1A2643">
                <a:alpha val="25000"/>
              </a:srgbClr>
            </a:outerShdw>
          </a:effectLst>
        </p:spPr>
      </p:sp>
      <p:pic>
        <p:nvPicPr>
          <p:cNvPr id="6" name="print" descr="/home/user/Manuais-de-uso/tacografo/telas/15_manual_list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9072"/>
            <a:ext cx="4617720" cy="2596896"/>
          </a:xfrm>
          <a:prstGeom prst="rect">
            <a:avLst/>
          </a:prstGeom>
        </p:spPr>
      </p:pic>
      <p:sp>
        <p:nvSpPr>
          <p:cNvPr id="7" name="num-passo"/>
          <p:cNvSpPr/>
          <p:nvPr/>
        </p:nvSpPr>
        <p:spPr>
          <a:xfrm>
            <a:off x="5577840" y="1719072"/>
            <a:ext cx="530352" cy="53035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5577840" y="17190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</a:t>
            </a:r>
            <a:endParaRPr lang="en-US" sz="1700" dirty="0"/>
          </a:p>
        </p:txBody>
      </p:sp>
      <p:sp>
        <p:nvSpPr>
          <p:cNvPr id="9" name="instrucoes"/>
          <p:cNvSpPr txBox="1"/>
          <p:nvPr/>
        </p:nvSpPr>
        <p:spPr>
          <a:xfrm>
            <a:off x="5577840" y="237744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 tacógrafo oferece: 1 MANUAL ou 2 LISTA DE MOTORISTAS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Selecione 2 LISTA DE MOTORISTAS e pressione OK</a:t>
            </a:r>
            <a:endParaRPr lang="en-US" sz="1300" dirty="0"/>
          </a:p>
        </p:txBody>
      </p:sp>
      <p:sp>
        <p:nvSpPr>
          <p:cNvPr id="10" name="botao-0"/>
          <p:cNvSpPr/>
          <p:nvPr/>
        </p:nvSpPr>
        <p:spPr>
          <a:xfrm>
            <a:off x="5577840" y="4087368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5577840" y="40873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300" dirty="0"/>
          </a:p>
        </p:txBody>
      </p:sp>
      <p:sp>
        <p:nvSpPr>
          <p:cNvPr id="12" name="botao-1"/>
          <p:cNvSpPr/>
          <p:nvPr/>
        </p:nvSpPr>
        <p:spPr>
          <a:xfrm>
            <a:off x="6190488" y="4087368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190488" y="40873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390"/>
                </a:solidFill>
                <a:latin typeface="Montserrat Medium"/>
                <a:ea typeface="Montserrat Medium"/>
                <a:cs typeface="Montserrat Medium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1097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Selecione o seu código</a:t>
            </a:r>
            <a:endParaRPr lang="en-US" sz="24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850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CONECTAR · PASSO 4</a:t>
            </a:r>
            <a:endParaRPr lang="en-US" sz="1100" dirty="0"/>
          </a:p>
        </p:txBody>
      </p:sp>
      <p:sp>
        <p:nvSpPr>
          <p:cNvPr id="5" name="print-1-moldura"/>
          <p:cNvSpPr/>
          <p:nvPr/>
        </p:nvSpPr>
        <p:spPr>
          <a:xfrm>
            <a:off x="502920" y="1673352"/>
            <a:ext cx="3657600" cy="2093976"/>
          </a:xfrm>
          <a:prstGeom prst="roundRect">
            <a:avLst>
              <a:gd name="adj" fmla="val 3493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1A2643">
                <a:alpha val="25000"/>
              </a:srgbClr>
            </a:outerShdw>
          </a:effectLst>
        </p:spPr>
      </p:sp>
      <p:pic>
        <p:nvPicPr>
          <p:cNvPr id="6" name="print-1" descr="/home/user/Manuais-de-uso/tacografo/telas/16_lista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9072"/>
            <a:ext cx="3566160" cy="20025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7764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Lista: 01, 02...</a:t>
            </a:r>
            <a:endParaRPr lang="en-US" sz="1000" dirty="0"/>
          </a:p>
        </p:txBody>
      </p:sp>
      <p:sp>
        <p:nvSpPr>
          <p:cNvPr id="8" name="print-2-moldura"/>
          <p:cNvSpPr/>
          <p:nvPr/>
        </p:nvSpPr>
        <p:spPr>
          <a:xfrm>
            <a:off x="4343400" y="1673352"/>
            <a:ext cx="3657600" cy="2093976"/>
          </a:xfrm>
          <a:prstGeom prst="roundRect">
            <a:avLst>
              <a:gd name="adj" fmla="val 3493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1A2643">
                <a:alpha val="25000"/>
              </a:srgbClr>
            </a:outerShdw>
          </a:effectLst>
        </p:spPr>
      </p:sp>
      <p:pic>
        <p:nvPicPr>
          <p:cNvPr id="9" name="print-2" descr="/home/user/Manuais-de-uso/tacografo/telas/17_lista0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719072"/>
            <a:ext cx="3566160" cy="200253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389120" y="37764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Destaque sobre o motorista</a:t>
            </a:r>
            <a:endParaRPr lang="en-US" sz="1000" dirty="0"/>
          </a:p>
        </p:txBody>
      </p:sp>
      <p:sp>
        <p:nvSpPr>
          <p:cNvPr id="11" name="num-passo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4</a:t>
            </a:r>
            <a:endParaRPr lang="en-US" sz="1500" dirty="0"/>
          </a:p>
        </p:txBody>
      </p:sp>
      <p:sp>
        <p:nvSpPr>
          <p:cNvPr id="13" name="instrucoes"/>
          <p:cNvSpPr txBox="1"/>
          <p:nvPr/>
        </p:nvSpPr>
        <p:spPr>
          <a:xfrm>
            <a:off x="1143000" y="4087368"/>
            <a:ext cx="48097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Aparecem os motoristas cadastrados (01, 02...)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Use ▲ ou ▼ até destacar o seu código e pressione OK</a:t>
            </a:r>
            <a:endParaRPr lang="en-US" sz="1100" dirty="0"/>
          </a:p>
        </p:txBody>
      </p:sp>
      <p:sp>
        <p:nvSpPr>
          <p:cNvPr id="14" name="botao-0"/>
          <p:cNvSpPr/>
          <p:nvPr/>
        </p:nvSpPr>
        <p:spPr>
          <a:xfrm>
            <a:off x="6227064" y="4206240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6227064" y="4206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300" dirty="0"/>
          </a:p>
        </p:txBody>
      </p:sp>
      <p:sp>
        <p:nvSpPr>
          <p:cNvPr id="16" name="botao-1"/>
          <p:cNvSpPr/>
          <p:nvPr/>
        </p:nvSpPr>
        <p:spPr>
          <a:xfrm>
            <a:off x="6839712" y="4206240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6839712" y="4206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300" dirty="0"/>
          </a:p>
        </p:txBody>
      </p:sp>
      <p:sp>
        <p:nvSpPr>
          <p:cNvPr id="18" name="botao-2"/>
          <p:cNvSpPr/>
          <p:nvPr/>
        </p:nvSpPr>
        <p:spPr>
          <a:xfrm>
            <a:off x="7452360" y="4206240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7452360" y="4206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390"/>
                </a:solidFill>
                <a:latin typeface="Montserrat Medium"/>
                <a:ea typeface="Montserrat Medium"/>
                <a:cs typeface="Montserrat Medium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1097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Confirme a conexão</a:t>
            </a:r>
            <a:endParaRPr lang="en-US" sz="24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850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CONECTAR · PASSO 5</a:t>
            </a:r>
            <a:endParaRPr lang="en-US" sz="1100" dirty="0"/>
          </a:p>
        </p:txBody>
      </p:sp>
      <p:sp>
        <p:nvSpPr>
          <p:cNvPr id="5" name="print-1-moldura"/>
          <p:cNvSpPr/>
          <p:nvPr/>
        </p:nvSpPr>
        <p:spPr>
          <a:xfrm>
            <a:off x="502920" y="1673352"/>
            <a:ext cx="3657600" cy="2093976"/>
          </a:xfrm>
          <a:prstGeom prst="roundRect">
            <a:avLst>
              <a:gd name="adj" fmla="val 3493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1A2643">
                <a:alpha val="25000"/>
              </a:srgbClr>
            </a:outerShdw>
          </a:effectLst>
        </p:spPr>
      </p:sp>
      <p:pic>
        <p:nvPicPr>
          <p:cNvPr id="6" name="print-1" descr="/home/user/Manuais-de-uso/tacografo/telas/18_confirma_c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9072"/>
            <a:ext cx="3566160" cy="20025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7764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Confirmação: selecione SIM</a:t>
            </a:r>
            <a:endParaRPr lang="en-US" sz="1000" dirty="0"/>
          </a:p>
        </p:txBody>
      </p:sp>
      <p:sp>
        <p:nvSpPr>
          <p:cNvPr id="8" name="print-2-moldura"/>
          <p:cNvSpPr/>
          <p:nvPr/>
        </p:nvSpPr>
        <p:spPr>
          <a:xfrm>
            <a:off x="4343400" y="1673352"/>
            <a:ext cx="3657600" cy="2093976"/>
          </a:xfrm>
          <a:prstGeom prst="roundRect">
            <a:avLst>
              <a:gd name="adj" fmla="val 3493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1A2643">
                <a:alpha val="25000"/>
              </a:srgbClr>
            </a:outerShdw>
          </a:effectLst>
        </p:spPr>
      </p:sp>
      <p:pic>
        <p:nvPicPr>
          <p:cNvPr id="9" name="print-2" descr="/home/user/Manuais-de-uso/tacografo/telas/19_conectad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719072"/>
            <a:ext cx="3566160" cy="200253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389120" y="37764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Código aparece na tela inicial</a:t>
            </a:r>
            <a:endParaRPr lang="en-US" sz="1000" dirty="0"/>
          </a:p>
        </p:txBody>
      </p:sp>
      <p:sp>
        <p:nvSpPr>
          <p:cNvPr id="11" name="num-passo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instrucoes"/>
          <p:cNvSpPr txBox="1"/>
          <p:nvPr/>
        </p:nvSpPr>
        <p:spPr>
          <a:xfrm>
            <a:off x="1143000" y="4087368"/>
            <a:ext cx="5422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Confira o código e a CNH, selecione SIM e pressione 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Na tela inicial, o seu código aparece no canto direito</a:t>
            </a:r>
            <a:endParaRPr lang="en-US" sz="1100" dirty="0"/>
          </a:p>
        </p:txBody>
      </p:sp>
      <p:sp>
        <p:nvSpPr>
          <p:cNvPr id="14" name="botao-0"/>
          <p:cNvSpPr/>
          <p:nvPr/>
        </p:nvSpPr>
        <p:spPr>
          <a:xfrm>
            <a:off x="6839712" y="4206240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6839712" y="4206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300" dirty="0"/>
          </a:p>
        </p:txBody>
      </p:sp>
      <p:sp>
        <p:nvSpPr>
          <p:cNvPr id="16" name="botao-1"/>
          <p:cNvSpPr/>
          <p:nvPr/>
        </p:nvSpPr>
        <p:spPr>
          <a:xfrm>
            <a:off x="7452360" y="4206240"/>
            <a:ext cx="5029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52360" y="4206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390"/>
                </a:solidFill>
                <a:latin typeface="Montserrat Medium"/>
                <a:ea typeface="Montserrat Medium"/>
                <a:cs typeface="Montserrat Medium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73913" y="1325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chemeClr val="accent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PARTE 3</a:t>
            </a:r>
            <a:endParaRPr lang="en-US" sz="13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73913" y="169164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Desconectar o motorista</a:t>
            </a:r>
            <a:endParaRPr lang="en-US" sz="3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73913" y="28346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Ao final da jornada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1097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Desconecte em três toques</a:t>
            </a:r>
            <a:endParaRPr lang="en-US" sz="24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850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DESCONECTAR</a:t>
            </a:r>
            <a:endParaRPr lang="en-US" sz="1100" dirty="0"/>
          </a:p>
        </p:txBody>
      </p:sp>
      <p:sp>
        <p:nvSpPr>
          <p:cNvPr id="5" name="print-1-moldura"/>
          <p:cNvSpPr/>
          <p:nvPr/>
        </p:nvSpPr>
        <p:spPr>
          <a:xfrm>
            <a:off x="502920" y="1673352"/>
            <a:ext cx="2514600" cy="1453896"/>
          </a:xfrm>
          <a:prstGeom prst="roundRect">
            <a:avLst>
              <a:gd name="adj" fmla="val 5031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1A2643">
                <a:alpha val="25000"/>
              </a:srgbClr>
            </a:outerShdw>
          </a:effectLst>
        </p:spPr>
      </p:sp>
      <p:pic>
        <p:nvPicPr>
          <p:cNvPr id="6" name="print-1" descr="/home/user/Manuais-de-uso/tacografo/telas/20_menu_mot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9072"/>
            <a:ext cx="2423160" cy="13624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2004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1. Abra o MENU DO MOTORISTA e pressione OK</a:t>
            </a:r>
            <a:endParaRPr lang="en-US" sz="1200" dirty="0"/>
          </a:p>
        </p:txBody>
      </p:sp>
      <p:sp>
        <p:nvSpPr>
          <p:cNvPr id="8" name="print-2-moldura"/>
          <p:cNvSpPr/>
          <p:nvPr/>
        </p:nvSpPr>
        <p:spPr>
          <a:xfrm>
            <a:off x="3154680" y="1673352"/>
            <a:ext cx="2514600" cy="1453896"/>
          </a:xfrm>
          <a:prstGeom prst="roundRect">
            <a:avLst>
              <a:gd name="adj" fmla="val 5031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1A2643">
                <a:alpha val="25000"/>
              </a:srgbClr>
            </a:outerShdw>
          </a:effectLst>
        </p:spPr>
      </p:sp>
      <p:pic>
        <p:nvPicPr>
          <p:cNvPr id="9" name="print-2" descr="/home/user/Manuais-de-uso/tacografo/telas/21_desconecta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719072"/>
            <a:ext cx="2423160" cy="136245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200400" y="32004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2. DESCONECTAR MOTORISTA? Selecione SIM e pressione OK</a:t>
            </a:r>
            <a:endParaRPr lang="en-US" sz="1200" dirty="0"/>
          </a:p>
        </p:txBody>
      </p:sp>
      <p:sp>
        <p:nvSpPr>
          <p:cNvPr id="11" name="print-3-moldura"/>
          <p:cNvSpPr/>
          <p:nvPr/>
        </p:nvSpPr>
        <p:spPr>
          <a:xfrm>
            <a:off x="5806440" y="1673352"/>
            <a:ext cx="2514600" cy="1453896"/>
          </a:xfrm>
          <a:prstGeom prst="roundRect">
            <a:avLst>
              <a:gd name="adj" fmla="val 5031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1A2643">
                <a:alpha val="25000"/>
              </a:srgbClr>
            </a:outerShdw>
          </a:effectLst>
        </p:spPr>
      </p:sp>
      <p:pic>
        <p:nvPicPr>
          <p:cNvPr id="12" name="print-3" descr="/home/user/Manuais-de-uso/tacografo/telas/22_desconectado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719072"/>
            <a:ext cx="2423160" cy="136245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852160" y="32004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3. Aparece MOTORISTA DESCONECTADO</a:t>
            </a:r>
            <a:endParaRPr lang="en-US" sz="1200" dirty="0"/>
          </a:p>
        </p:txBody>
      </p:sp>
      <p:sp>
        <p:nvSpPr>
          <p:cNvPr id="14" name="dica-fundo"/>
          <p:cNvSpPr/>
          <p:nvPr/>
        </p:nvSpPr>
        <p:spPr>
          <a:xfrm>
            <a:off x="548640" y="4023360"/>
            <a:ext cx="7406640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/>
        </p:spPr>
      </p:sp>
      <p:sp>
        <p:nvSpPr>
          <p:cNvPr id="15" name="Text 9"/>
          <p:cNvSpPr txBox="1"/>
          <p:nvPr/>
        </p:nvSpPr>
        <p:spPr>
          <a:xfrm>
            <a:off x="731520" y="402336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Pronto: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 jornada foi encerrada e o tacógrafo não tem mais motorista conectado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390"/>
                </a:solidFill>
                <a:latin typeface="Montserrat Medium"/>
                <a:ea typeface="Montserrat Medium"/>
                <a:cs typeface="Montserrat Medium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1097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Resumo rápido</a:t>
            </a:r>
            <a:endParaRPr lang="en-US" sz="24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850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ENCERRAMENTO</a:t>
            </a:r>
            <a:endParaRPr lang="en-US" sz="1100" dirty="0"/>
          </a:p>
        </p:txBody>
      </p:sp>
      <p:sp>
        <p:nvSpPr>
          <p:cNvPr id="5" name="resumo-0"/>
          <p:cNvSpPr/>
          <p:nvPr/>
        </p:nvSpPr>
        <p:spPr>
          <a:xfrm>
            <a:off x="548640" y="1719072"/>
            <a:ext cx="2377440" cy="1984248"/>
          </a:xfrm>
          <a:prstGeom prst="roundRect">
            <a:avLst>
              <a:gd name="adj" fmla="val 5530"/>
            </a:avLst>
          </a:prstGeom>
          <a:solidFill>
            <a:schemeClr val="bg1"/>
          </a:solidFill>
          <a:ln w="12700">
            <a:solidFill>
              <a:srgbClr val="F4F1F6"/>
            </a:solidFill>
            <a:prstDash val="solid"/>
          </a:ln>
          <a:effectLst>
            <a:outerShdw sx="100000" sy="100000" kx="0" ky="0" algn="bl" rotWithShape="0" blurRad="101600" dist="25400" dir="5400000">
              <a:srgbClr val="1A2643">
                <a:alpha val="12000"/>
              </a:srgbClr>
            </a:outerShdw>
          </a:effectLst>
        </p:spPr>
      </p:sp>
      <p:sp>
        <p:nvSpPr>
          <p:cNvPr id="6" name="resumo-num-0"/>
          <p:cNvSpPr/>
          <p:nvPr/>
        </p:nvSpPr>
        <p:spPr>
          <a:xfrm>
            <a:off x="731520" y="18288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18288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Cadastrar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331720"/>
            <a:ext cx="21031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Gerenciamento da lista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Cadastrar código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Código (CPF) + CNH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Confirmar SIM</a:t>
            </a:r>
            <a:endParaRPr lang="en-US" sz="1100" dirty="0"/>
          </a:p>
        </p:txBody>
      </p:sp>
      <p:sp>
        <p:nvSpPr>
          <p:cNvPr id="10" name="resumo-1"/>
          <p:cNvSpPr/>
          <p:nvPr/>
        </p:nvSpPr>
        <p:spPr>
          <a:xfrm>
            <a:off x="3154680" y="1719072"/>
            <a:ext cx="2377440" cy="1984248"/>
          </a:xfrm>
          <a:prstGeom prst="roundRect">
            <a:avLst>
              <a:gd name="adj" fmla="val 5530"/>
            </a:avLst>
          </a:prstGeom>
          <a:solidFill>
            <a:schemeClr val="bg1"/>
          </a:solidFill>
          <a:ln w="12700">
            <a:solidFill>
              <a:srgbClr val="F4F1F6"/>
            </a:solidFill>
            <a:prstDash val="solid"/>
          </a:ln>
          <a:effectLst>
            <a:outerShdw sx="100000" sy="100000" kx="0" ky="0" algn="bl" rotWithShape="0" blurRad="101600" dist="25400" dir="5400000">
              <a:srgbClr val="1A2643">
                <a:alpha val="12000"/>
              </a:srgbClr>
            </a:outerShdw>
          </a:effectLst>
        </p:spPr>
      </p:sp>
      <p:sp>
        <p:nvSpPr>
          <p:cNvPr id="11" name="resumo-num-1"/>
          <p:cNvSpPr/>
          <p:nvPr/>
        </p:nvSpPr>
        <p:spPr>
          <a:xfrm>
            <a:off x="3337560" y="18288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33756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840480" y="18288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Conectar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337560" y="2331720"/>
            <a:ext cx="21031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Menu do motorista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Conecte-se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Lista de motoristas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Escolher código e SIM</a:t>
            </a:r>
            <a:endParaRPr lang="en-US" sz="1100" dirty="0"/>
          </a:p>
        </p:txBody>
      </p:sp>
      <p:sp>
        <p:nvSpPr>
          <p:cNvPr id="15" name="resumo-2"/>
          <p:cNvSpPr/>
          <p:nvPr/>
        </p:nvSpPr>
        <p:spPr>
          <a:xfrm>
            <a:off x="5760720" y="1719072"/>
            <a:ext cx="2377440" cy="1984248"/>
          </a:xfrm>
          <a:prstGeom prst="roundRect">
            <a:avLst>
              <a:gd name="adj" fmla="val 5530"/>
            </a:avLst>
          </a:prstGeom>
          <a:solidFill>
            <a:schemeClr val="bg1"/>
          </a:solidFill>
          <a:ln w="12700">
            <a:solidFill>
              <a:srgbClr val="F4F1F6"/>
            </a:solidFill>
            <a:prstDash val="solid"/>
          </a:ln>
          <a:effectLst>
            <a:outerShdw sx="100000" sy="100000" kx="0" ky="0" algn="bl" rotWithShape="0" blurRad="101600" dist="25400" dir="5400000">
              <a:srgbClr val="1A2643">
                <a:alpha val="12000"/>
              </a:srgbClr>
            </a:outerShdw>
          </a:effectLst>
        </p:spPr>
      </p:sp>
      <p:sp>
        <p:nvSpPr>
          <p:cNvPr id="16" name="resumo-num-2"/>
          <p:cNvSpPr/>
          <p:nvPr/>
        </p:nvSpPr>
        <p:spPr>
          <a:xfrm>
            <a:off x="5943600" y="18288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4360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18288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Desconectar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0" y="2331720"/>
            <a:ext cx="21031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Menu do motorista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Desconectar motorista?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Confirmar SIM</a:t>
            </a:r>
            <a:endParaRPr lang="en-US" sz="1100" dirty="0"/>
          </a:p>
        </p:txBody>
      </p:sp>
      <p:sp>
        <p:nvSpPr>
          <p:cNvPr id="20" name="dicas-fundo"/>
          <p:cNvSpPr/>
          <p:nvPr/>
        </p:nvSpPr>
        <p:spPr>
          <a:xfrm>
            <a:off x="548640" y="3840480"/>
            <a:ext cx="7406640" cy="73152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31520" y="384048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Lembre-se: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Faça os procedimentos com o veículo parado  •  Sempre confira o código na tela inicial antes de sair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390"/>
                </a:solidFill>
                <a:latin typeface="Montserrat Medium"/>
                <a:ea typeface="Montserrat Medium"/>
                <a:cs typeface="Montserrat Medium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Grupo Dinamo">
  <a:themeElements>
    <a:clrScheme name="Grupo Dinamo">
      <a:dk1>
        <a:srgbClr val="1A2643"/>
      </a:dk1>
      <a:lt1>
        <a:srgbClr val="FFFFFF"/>
      </a:lt1>
      <a:dk2>
        <a:srgbClr val="1A2643"/>
      </a:dk2>
      <a:lt2>
        <a:srgbClr val="F4F1F6"/>
      </a:lt2>
      <a:accent1>
        <a:srgbClr val="D94864"/>
      </a:accent1>
      <a:accent2>
        <a:srgbClr val="F1D08A"/>
      </a:accent2>
      <a:accent3>
        <a:srgbClr val="AA80AE"/>
      </a:accent3>
      <a:accent4>
        <a:srgbClr val="1A2643"/>
      </a:accent4>
      <a:accent5>
        <a:srgbClr val="6B7390"/>
      </a:accent5>
      <a:accent6>
        <a:srgbClr val="FBF1DA"/>
      </a:accent6>
      <a:hlink>
        <a:srgbClr val="D94864"/>
      </a:hlink>
      <a:folHlink>
        <a:srgbClr val="AA80AE"/>
      </a:folHlink>
    </a:clrScheme>
    <a:fontScheme name="Grupo Dinamo">
      <a:majorFont>
        <a:latin typeface="Montserrat Extra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 Medium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Grupo Dínamo / Tóliman Transportes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Tacógrafo Digital: cadastrar, conectar e desconectar o motorista</dc:title>
  <dc:subject>PptxGenJS Presentation</dc:subject>
  <dc:creator>PptxGenJS</dc:creator>
  <cp:lastModifiedBy>PptxGenJS</cp:lastModifiedBy>
  <cp:revision>1</cp:revision>
  <dcterms:created xsi:type="dcterms:W3CDTF">2026-10-06T21:06:14Z</dcterms:created>
  <dcterms:modified xsi:type="dcterms:W3CDTF">2026-10-06T21:06:14Z</dcterms:modified>
</cp:coreProperties>
</file>